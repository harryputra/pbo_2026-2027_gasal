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95437" y="2009775"/>
            <a:ext cx="9001125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0" i="0" u="none">
                <a:solidFill>
                  <a:srgbClr val="0F172A"/>
                </a:solidFill>
                <a:latin typeface="Inter ExtraBold"/>
              </a:rPr>
              <a:t>Pemrograman Berorientasi Objek dengan Kotlin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9750" y="3541216"/>
            <a:ext cx="857250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Dari Nol Menjadi Programmer OOP — Fondasi untuk Mobile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2886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2886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Instruksi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Pemrograman adalah proses merancang dan menulis set instruksi (kode) yang secara spesifik memberi tahu komputer apa yang harus dilakukan untuk menyelesaikan suatu masalah.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Mesin Komputer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428875"/>
            <a:ext cx="4543425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Komputer adalah mesin yang sangat patuh namun tidak memiliki inisiatif. Ia hanya mengeksekusi instruksi secara persis sesuai dengan yang diperintahkan, tidak lebih dan tidak kurang.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Apa itu Pemrograman?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1600200"/>
          <a:ext cx="11029949" cy="3411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1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7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2933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Paradigma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Fokus Utama &amp; Deskripsi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Contoh Bahasa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2933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Prosedural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Program ditulis sebagai urutan instruksi/langkah demi langkah.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C, Pascal, BASIC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2933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Fungsional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Program dibangun dari fungsi-fungsi murni (tanpa efek samping).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Haskell, Lisp, Erlang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293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Berorientasi Objek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Program dibangun dari </a:t>
                      </a:r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objek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 yang memiliki </a:t>
                      </a:r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data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 dan </a:t>
                      </a:r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perilaku</a:t>
                      </a:r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Kotlin, Java, Python, C++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311598"/>
            <a:ext cx="2161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2307" y="2311598"/>
            <a:ext cx="6191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33854" y="2311598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006923"/>
            <a:ext cx="2161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2307" y="3006923"/>
            <a:ext cx="6191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33854" y="3006923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4007048"/>
            <a:ext cx="216128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2307" y="4007048"/>
            <a:ext cx="619154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933854" y="4007048"/>
            <a:ext cx="26771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Paradigma Pemrograman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650" y="16002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Manajemen Kompleksitas: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Memudahkan pengelolaan arsitektur aplikasi berskala besar (contoh: E-commerce dengan jutaan pengguna dan transaksi).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650" y="24003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Memodelkan Dunia Nyata: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Mampu mentransformasi entitas di dunia nyata (mobil, manusia, buku) menjadi logika kode program.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200400"/>
            <a:ext cx="10601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Karakteristik (Data):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Setiap objek secara independen mampu menyimpan status dan keadaannya sendiri.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3695700"/>
            <a:ext cx="10601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Perilaku (Metode):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Setiap objek memiliki kumpulan aksi dan logika mandiri yang bisa ia lakukan.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43062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4316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43262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738562"/>
            <a:ext cx="23812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Mengapa Memilih OOP?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08832" y="2587079"/>
            <a:ext cx="8974335" cy="176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3300" b="0" i="0" u="none">
                <a:solidFill>
                  <a:srgbClr val="0F172A"/>
                </a:solidFill>
                <a:latin typeface="Inter ExtraBold"/>
              </a:rPr>
              <a:t>OOP adalah cara berpikir: bukan 'apa yang harus saya lakukan?', tetapi 'objek apa yang ada, dan apa yang bisa mereka lakukan?'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1012" y="4766220"/>
            <a:ext cx="36099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334155"/>
                </a:solidFill>
                <a:latin typeface="Inter"/>
              </a:rPr>
              <a:t>— Inti Pemrograman Berorientasi Objek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082" y="2968079"/>
            <a:ext cx="626268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E2E8F0"/>
                </a:solidFill>
                <a:latin typeface="serif ExtraBold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23653" y="4537618"/>
            <a:ext cx="626268" cy="1314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E2E8F0"/>
                </a:solidFill>
                <a:latin typeface="serif ExtraBold"/>
              </a:rPr>
              <a:t>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881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881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Blueprint / Cetakan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Kelas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adalah sebuah blueprint atau cetakan utama yang mendefinisikan bentuk dasar sebelum suatu objek dibuat.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486150"/>
            <a:ext cx="45434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Analogi: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Cetakan kue yang secara presisi menentukan bentuk, letak bahan, dan proses. Cetakan itu sendiri bukanlah kue yang bisa dimakan.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Implementasi Kotlin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Konsep Dasar: Kelas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Instansi Nyata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Objek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adalah instansi atau realisasi nyata yang dihasilkan dari sebuah cetakan kelas yang telah didefinisikan.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48615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Analogi: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Kue yang sudah jadi dari cetakannya, yang memiliki wujud, warna, ukuran spesifik, dan siap digunakan.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Implementasi Kotlin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Konsep Dasar: Objek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Penyimpan Keadaan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Atribut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adalah variabel yang melekat pada sebuah objek dan bertugas menyimpan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keadaan (state)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dari objek tersebut.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48615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Analogi: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Bahan-bahan pembuat kue yang spesifik seperti takaran tepung, gula, dan mentega yang menentukan hasil akhirnya.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Implementasi Kotlin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Atribut / Properti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4367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4367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Penentu Perilaku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Metode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adalah fungsi yang terikat langsung di dalam kelas objek. Ia mendefinisikan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perilaku (behavior)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dari entitas tersebut.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48615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Analogi: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Langkah kerja atau cara dalam membuat kue, seperti mencampur bahan atau memanggang adonan.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Implementasi Kotlin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Metode / Fungsi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2543175" cy="4314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9950" y="1600200"/>
            <a:ext cx="2543175" cy="431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600200"/>
            <a:ext cx="2543175" cy="4314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7800" y="1600200"/>
            <a:ext cx="2543175" cy="4314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3925" y="2552700"/>
            <a:ext cx="1950243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Abstraksi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990850"/>
            <a:ext cx="1857375" cy="243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Menyembunyikan kerumitan proses dan hanya menampilkan esensi utama layaknya menyetir tanpa harus tahu sistem mesin.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2850" y="2552700"/>
            <a:ext cx="1950243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Enkapsulasi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52850" y="2990850"/>
            <a:ext cx="1857375" cy="2438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Membungkus data &amp; metode dalam satu unit (kelas) untuk menyembunyikan detail dan memproteksi status internal.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552700"/>
            <a:ext cx="1950243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Pewarisan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2990850"/>
            <a:ext cx="1857375" cy="213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Kemampuan membuat kelas baru dengan mewarisi properti &amp; metode dari kelas induk yang sudah ada sebelumnya.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0700" y="2552700"/>
            <a:ext cx="1950243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Polimorfisme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0700" y="2990850"/>
            <a:ext cx="1857375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Satu pesan instruksi dapat direspons secara berbeda bergantung pada objek spesifik yang menerimanya.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25" y="1981200"/>
            <a:ext cx="4286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2850" y="1981200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1981200"/>
            <a:ext cx="390525" cy="3429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0700" y="1981200"/>
            <a:ext cx="342900" cy="3429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Empat Pilar Utama OOP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81025" y="1600200"/>
          <a:ext cx="11029949" cy="349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6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6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9492"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Aspek Pembanding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Pemrograman Prosedural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Pemrograman OOP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49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Unit Utama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Fungsi / Logika algoritmik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Objek (Gabungan Data + Perilaku)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49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Keamanan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Rendah (Data global mudah diakses)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Tinggi (Terproteksi via Enkapsulasi)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49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Tingkat Reusability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Sulit (Sering bergantung copy-paste)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Sangat Mudah (Pewarisan/Komposisi)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492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334155"/>
                          </a:solidFill>
                          <a:latin typeface="Inter"/>
                        </a:rPr>
                        <a:t>Contoh Penggunaan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Program Kalkulator Sederhana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334155"/>
                          </a:solidFill>
                          <a:latin typeface="Inter"/>
                        </a:rPr>
                        <a:t>E-commerce, Sistem Perbankan, Game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311598"/>
            <a:ext cx="2632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13943" y="2311598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290345" y="2311598"/>
            <a:ext cx="43206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006923"/>
            <a:ext cx="2632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13943" y="3006923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290345" y="3006923"/>
            <a:ext cx="43206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1025" y="3702248"/>
            <a:ext cx="2632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13943" y="3702248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290345" y="3702248"/>
            <a:ext cx="43206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1025" y="4397573"/>
            <a:ext cx="263291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13943" y="4397573"/>
            <a:ext cx="407640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290345" y="4397573"/>
            <a:ext cx="43206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OOP vs Prosedural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2057400"/>
            <a:ext cx="1102995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17605" y="2362200"/>
            <a:ext cx="266361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F172A"/>
                </a:solidFill>
                <a:latin typeface="Inter SemiBold"/>
              </a:rPr>
              <a:t>2011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2800350"/>
            <a:ext cx="25367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Mulai dikembangkan oleh JetBrains (Kreator IntelliJ IDEA).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8614" y="600075"/>
            <a:ext cx="266361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F172A"/>
                </a:solidFill>
                <a:latin typeface="Inter SemiBold"/>
              </a:rPr>
              <a:t>2016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2033" y="1038225"/>
            <a:ext cx="253677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Kotlin versi 1.0 resmi dirilis secara global ke publik.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9622" y="2362200"/>
            <a:ext cx="266361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F172A"/>
                </a:solidFill>
                <a:latin typeface="Inter SemiBold"/>
              </a:rPr>
              <a:t>2017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3042" y="2800350"/>
            <a:ext cx="25367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Diumumkan Google sebagai bahasa resmi aplikasi Android.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10631" y="295275"/>
            <a:ext cx="2663614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0" i="0" u="none">
                <a:solidFill>
                  <a:srgbClr val="0F172A"/>
                </a:solidFill>
                <a:latin typeface="Inter SemiBold"/>
              </a:rPr>
              <a:t>2019+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4050" y="733425"/>
            <a:ext cx="25367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Google deklarasi "Kotlin-first" untuk Android Development.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5112" y="19621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66121" y="19621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97129" y="19621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228138" y="19621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8898" y="6109970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0F172A"/>
                </a:solidFill>
                <a:latin typeface="Inter ExtraBold"/>
              </a:rPr>
              <a:t>Sejarah </a:t>
            </a:r>
            <a:r>
              <a:rPr sz="3000" b="0" i="0" u="none" dirty="0" err="1">
                <a:solidFill>
                  <a:srgbClr val="0F172A"/>
                </a:solidFill>
                <a:latin typeface="Inter ExtraBold"/>
              </a:rPr>
              <a:t>Singkat</a:t>
            </a:r>
            <a:r>
              <a:rPr sz="3000" b="0" i="0" u="none" dirty="0">
                <a:solidFill>
                  <a:srgbClr val="0F172A"/>
                </a:solidFill>
                <a:latin typeface="Inter ExtraBold"/>
              </a:rPr>
              <a:t> Kotlin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650" y="16002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Interoperabilitas 100%: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Kotlin dapat memanggil instruksi kode Java secara langsung, begitu pula sebaliknya dalam satu project.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650" y="24003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Migrasi Bertahap: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Memungkinkan perusahaan melakukan refactoring codebase besar dari Java ke Kotlin tanpa harus merusak sistem berjalan.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2004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Akses Ekosistem Penuh: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Anda tetap bisa menggunakan keseluruhan jutaan library Java yang sudah ada tanpa adanya hambatan teknis apapun.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43062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43162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43262"/>
            <a:ext cx="171450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Interoperabilitas dengan Java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4367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4367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Java (Boilerplate Tinggi)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Kotlin (Sangat Efisien)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3338512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Kotlin mampu memangkas penulisan </a:t>
            </a:r>
            <a:r>
              <a:rPr sz="1500" b="0" i="1" u="none">
                <a:solidFill>
                  <a:srgbClr val="334155"/>
                </a:solidFill>
                <a:latin typeface="Inter"/>
              </a:rPr>
              <a:t>boilerplate code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(kode repetitif) hingga 30% dibandingkan dengan bahasa Java.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Sintaks yang Lebih Ringkas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333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Akhir dari NullPointerException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Kotlin secara proaktif mencegah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NPE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dengan mewajibkan aturan di tingkat kompilasi: secara default, seluruh variabel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tidak boleh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bernilai null.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48615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Jika nilai null benar-benar dibutuhkan, tipe datanya harus dideklarasikan eksplisit dengan tanda ?.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Implementasi Kode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Null Safety di Kotlin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650" y="16002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Fitur Modern Kotlin: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Termasuk Type Inference, Data Class, Extension Functions, Lambda, dan Coroutines untuk Asynchronous.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650" y="24003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Persiapan Mobile Programming: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Membekali Anda secara langsung untuk kelas pengembangan Android di semester depan tanpa perlu transisi bahasa.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2004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Fondasi yang Tepat: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Pendekatan OOP di Kotlin secara identik digunakan dalam arsitektur aplikasi mobile berskala industri saat ini.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40005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Universalitas: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Menguasai logika objek di sini berarti Anda siap memahami bahasa OOP lainnya seperti C#, Swift, dan Python.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43062"/>
            <a:ext cx="17145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43162"/>
            <a:ext cx="1428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4326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043362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Fitur Modern &amp; Relevansi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171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171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Struktur Dasar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fun: Keyword mutlak pembentuk fungsi.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2876550"/>
            <a:ext cx="4543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main: Nama fungsi utama, titik awal mula program dieksekusi oleh mesin JVM.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629025"/>
            <a:ext cx="4543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println(): Perintah internal untuk mencetak teks lalu melakukan break baris baru (new line).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Contoh Hello World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Anatomi Program Kotlin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781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781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Mutabilitas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val (Immutable):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Nilai variabel terkunci dan tidak bisa ditimpa ulang (Read-only).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181350"/>
            <a:ext cx="4543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var (Mutable):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Nilai variabel diizinkan untuk diubah secara dinamis saat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93382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Best Practice: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Deklarasikan segala hal sebagai val di awal. Ubah menjadi var hanya jika wajib berubah.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Penerapan di Kode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Variabel: val vs var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638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Penebakan Tipe Otomatis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Type Inference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memungkinkan compiler Kotlin untuk menebak tipe data secara cerdas berdasarkan nilai inisialisasinya.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486150"/>
            <a:ext cx="4543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Tipe dasar meliputi: String, Int, Double, Boolean, dan Char.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Contoh Penggunaan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Type Inference &amp; Tipe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3486150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600200"/>
            <a:ext cx="3486150" cy="3638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600200"/>
            <a:ext cx="3486150" cy="3638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552700"/>
            <a:ext cx="294036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Safe Call (?.)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990850"/>
            <a:ext cx="28003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Melindungi dari crash. Eksekusi fungsi atau akses variabel hanya dilakukan apabila objek utamanya terkonfirmasi tidak null.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5825" y="2552700"/>
            <a:ext cx="294036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Elvis Operator (?:)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2990850"/>
            <a:ext cx="28003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Memberikan nilai default pengganti secara instan apabila variabel yang dicek ternyata memang mengandung nilai null.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725" y="2552700"/>
            <a:ext cx="294036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Not-Null Assert (!!)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725" y="2990850"/>
            <a:ext cx="28003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Memaksa compiler menganggap variabel 100% tidak null. Sangat berisiko memicu crash NPE jika prediksi Anda salah.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1981200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1981200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1981200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Mekanisme Null Safety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695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695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Deklarasi &amp; Nilai Balik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Fungsi standar membutuhkan blok { } dan perintah return jika mengembalikan sebuah nilai tipe data tertentu.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Fitur Ekspresi Lanjutan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428875"/>
            <a:ext cx="4543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Single-Expression: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Sangat hemat baris kode.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738562"/>
            <a:ext cx="4543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Parameter Default: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Fungsi di Kotlin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543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543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Interpolasi String Modern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Di Kotlin, Anda cukup menggunakan simbol $ untuk menyisipkan variabel atau operasi langsung ke dalam rentetan teks, menghindari teknik plus-penggabungan kuno.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User Input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Perintah readln() menangkap data console dalam format murni String. Bisa digabung dengan modifier seperti .toInt().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String Template &amp;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638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Menyusun Struktur Objek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Kelas dibangun menggunakan keyword awalan class. Anda dapat langsung mengisikan properti atribut di dalam blok beserta nilai default yang ditentukan.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790950"/>
            <a:ext cx="4543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Seluruh fungsi (metode) diletakkan di scope yang sama.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Struktur Kode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Deklarasi Kelas &amp; Properti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638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638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Instansiasi &amp; Inisialisasi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Pembuatan Objek: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Diciptakan dengan pemanggilan sederhana 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tanpa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membutuhkan kata kunci tradisional new.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48615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Primary Constructor: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Parameter disematkan langsung di header penamaan kelas, memicu blok init { } pada awal pembentukan.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Struktur Kode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Objek &amp; Konstruktor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650" y="16002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Struktur Properti: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Menggunakan nim, nama (keduanya immutable/read-only), serta jurusan dan ipk (mutable/bisa diubah).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9650" y="24003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Blok Inisialisasi: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Menjalankan trigger validasi instan saat objek dibuat untuk memastikan IPK mutlak berada di range angka 0.0 - 4.0.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200400"/>
            <a:ext cx="106013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Metode tampilkan():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Mencetak seluruh rincian dan status mahasiswa ke layar dengan formatting UI/UX konsol yang rapi.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4000500"/>
            <a:ext cx="10601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Metode hitungPredikat():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Mengevaluasi skala kelulusan berjenjang (Cumlaude, Sangat Memuaskan, Cukup, dsb).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4495800"/>
            <a:ext cx="10601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Metode updateIpk():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Memanipulasi state IPK dengan pengecekan perlindungan input.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43062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4316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43262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4043362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538662"/>
            <a:ext cx="190500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Sistem Manajemen Mahasiswa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3486150" cy="3562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600200"/>
            <a:ext cx="3486150" cy="3562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600200"/>
            <a:ext cx="3486150" cy="3562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2552700"/>
            <a:ext cx="294036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Kelas Buku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990850"/>
            <a:ext cx="28003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Properti: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judul, peminjam.</a:t>
            </a:r>
            <a:r>
              <a:t>
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Metode Utama: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pinjam(), kembalikan(). Latih pengaturan state String nullable untuk peminjam.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5825" y="2552700"/>
            <a:ext cx="294036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Kelas Lingkaran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2990850"/>
            <a:ext cx="28003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Properti: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jariJari.</a:t>
            </a:r>
            <a:r>
              <a:t>
</a:t>
            </a:r>
            <a:r>
              <a:rPr sz="1500" b="1" i="0" u="none">
                <a:solidFill>
                  <a:srgbClr val="334155"/>
                </a:solidFill>
                <a:latin typeface="Inter"/>
              </a:rPr>
              <a:t>Metode Utama: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luas(), keliling(). Aplikasikan library bawaan Math.PI.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725" y="2552700"/>
            <a:ext cx="2940367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Kelas Kalkulator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725" y="2990850"/>
            <a:ext cx="28003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34155"/>
                </a:solidFill>
                <a:latin typeface="Inter"/>
              </a:rPr>
              <a:t>Programkan metode operasi aritmatika (tambah, kurang, kali, bagi) dengan tambahan perlindungan crash pada exception pembagian nilai-0.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1981200"/>
            <a:ext cx="3048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1981200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5825" y="4506813"/>
            <a:ext cx="1481137" cy="246161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7725" y="1981200"/>
            <a:ext cx="25717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Latihan &amp; Tugas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600200"/>
            <a:ext cx="5324475" cy="3581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00200"/>
            <a:ext cx="5324475" cy="3581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90725"/>
            <a:ext cx="4770596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F172A"/>
                </a:solidFill>
                <a:latin typeface="Inter SemiBold"/>
              </a:rPr>
              <a:t>Ringkasan Pertemuan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4288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OOP Core: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Paradigma yang berbasis abstraksi nyata melalui Kelas (Cetakan) dan Objek (Realisasi).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486150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334155"/>
                </a:solidFill>
                <a:latin typeface="Inter"/>
              </a:rPr>
              <a:t>Kotlin Advantage:</a:t>
            </a:r>
            <a:r>
              <a:rPr sz="1500" b="0" i="0" u="none">
                <a:solidFill>
                  <a:srgbClr val="334155"/>
                </a:solidFill>
                <a:latin typeface="Inter"/>
              </a:rPr>
              <a:t> Sangat ringkas, dilindungi sistem Null Safety, dan menggunakan arsitektur val (immutable) dan var (mutable).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1990725"/>
            <a:ext cx="4770596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Inter SemiBold"/>
              </a:rPr>
              <a:t>Persiapan Pertemuan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7025" y="2286000"/>
            <a:ext cx="45434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7025" y="2438400"/>
            <a:ext cx="45434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Fokus Utama: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Pilar Enkapsulasi (Encapsulation).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886075"/>
            <a:ext cx="454342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CBD5E1"/>
                </a:solidFill>
                <a:latin typeface="Inter"/>
              </a:rPr>
              <a:t>Topik Khusus:</a:t>
            </a:r>
            <a:r>
              <a:rPr sz="1500" b="0" i="0" u="none">
                <a:solidFill>
                  <a:srgbClr val="CBD5E1"/>
                </a:solidFill>
                <a:latin typeface="Inter"/>
              </a:rPr>
              <a:t> Implementasi Access modifier (private, protected, public), teknik Setter/Getter custom, dan Backing field pengaman properti.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038600"/>
            <a:ext cx="4543425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38BDF8"/>
                </a:solidFill>
                <a:latin typeface="Inter SemiBold"/>
              </a:rPr>
              <a:t>* Pastikan tugas Kelas Sistem Mahasiswa sudah diselesaikan!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0F172A"/>
                </a:solidFill>
                <a:latin typeface="Inter ExtraBold"/>
              </a:rPr>
              <a:t>Ringkasan &amp; Persiapan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1025" y="1190625"/>
            <a:ext cx="11029950" cy="2857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1484</Words>
  <Application>Microsoft Office PowerPoint</Application>
  <PresentationFormat>Widescreen</PresentationFormat>
  <Paragraphs>167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Inter</vt:lpstr>
      <vt:lpstr>Inter ExtraBold</vt:lpstr>
      <vt:lpstr>Inter SemiBold</vt:lpstr>
      <vt:lpstr>serif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Harry Khomas Saputra</cp:lastModifiedBy>
  <cp:revision>2</cp:revision>
  <dcterms:created xsi:type="dcterms:W3CDTF">2013-01-27T09:14:16Z</dcterms:created>
  <dcterms:modified xsi:type="dcterms:W3CDTF">2026-08-10T02:05:41Z</dcterms:modified>
  <cp:category/>
</cp:coreProperties>
</file>